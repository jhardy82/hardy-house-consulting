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2286000"/>
            <a:ext cx="2926080" cy="2926080"/>
          </a:xfrm>
          <a:prstGeom prst="ellipse">
            <a:avLst/>
          </a:prstGeom>
          <a:solidFill>
            <a:srgbClr val="171221"/>
          </a:solidFill>
          <a:ln w="19050">
            <a:solidFill>
              <a:srgbClr val="9B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418320" y="53035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B7BE0"/>
                </a:solidFill>
                <a:latin typeface="Courier New"/>
              </a:rPr>
              <a:t>Dodecahedron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4F0EB"/>
                </a:solidFill>
                <a:latin typeface="Georgia"/>
              </a:rPr>
              <a:t>Hardy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C49A1F"/>
                </a:solidFill>
                <a:latin typeface="Georgia"/>
              </a:rPr>
              <a:t>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07870"/>
                </a:solidFill>
                <a:latin typeface="Times New Roman"/>
              </a:rPr>
              <a:t>Structured Intelligence for Complex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7BE0"/>
                </a:solidFill>
                <a:latin typeface="Courier New"/>
              </a:rPr>
              <a:t>ContextForge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F0EB"/>
                </a:solidFill>
                <a:latin typeface="Georgia"/>
              </a:rPr>
              <a:t>Complexity grows.
Coordination fails.
Delivery slows.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7870"/>
                </a:solidFill>
                <a:latin typeface="Times New Roman"/>
              </a:rPr>
              <a:t>— Teams scale faster than the systems that coordinate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7870"/>
                </a:solidFill>
                <a:latin typeface="Times New Roman"/>
              </a:rPr>
              <a:t>— Structure exists in silos — not as a shared operational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5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7870"/>
                </a:solidFill>
                <a:latin typeface="Times New Roman"/>
              </a:rPr>
              <a:t>— Delivery confidence degrades as complexity compounds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THE HARDY HOUSE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49A1F"/>
                </a:solidFill>
                <a:latin typeface="Georgia"/>
              </a:rPr>
              <a:t>ContextForge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F0EB"/>
                </a:solidFill>
                <a:latin typeface="Georgia"/>
              </a:rPr>
              <a:t>Geometry-backed agent coordination for complex systems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7870"/>
                </a:solidFill>
                <a:latin typeface="Times New Roman"/>
              </a:rPr>
              <a:t>We assign the five classical elements to agent roles, apply sacred geometry
as the structural logic, and run every engagement through the PAOAL cycle
(Plan → Act → Observe → Assess → Learn) to build self-reinforcing delivery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THE ELEMENT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F0EB"/>
                </a:solidFill>
                <a:latin typeface="Georgia"/>
              </a:rPr>
              <a:t>Five Elements.
Five Roles.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657600"/>
            <a:ext cx="1645920" cy="1645920"/>
          </a:xfrm>
          <a:prstGeom prst="rect">
            <a:avLst/>
          </a:prstGeom>
          <a:solidFill>
            <a:srgbClr val="201905"/>
          </a:solidFill>
          <a:ln w="12700">
            <a:solidFill>
              <a:srgbClr val="C49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49A1F"/>
                </a:solidFill>
                <a:latin typeface="Georgia"/>
              </a:rPr>
              <a:t>Fire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7870"/>
                </a:solidFill>
                <a:latin typeface="Courier New"/>
              </a:rPr>
              <a:t>Tetrahedron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4F0EB"/>
                </a:solidFill>
                <a:latin typeface="Times New Roman"/>
              </a:rPr>
              <a:t>Initiator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3657600"/>
            <a:ext cx="1645920" cy="1645920"/>
          </a:xfrm>
          <a:prstGeom prst="rect">
            <a:avLst/>
          </a:prstGeom>
          <a:solidFill>
            <a:srgbClr val="07150D"/>
          </a:solidFill>
          <a:ln w="12700">
            <a:solidFill>
              <a:srgbClr val="2D8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8050"/>
                </a:solidFill>
                <a:latin typeface="Georgia"/>
              </a:rPr>
              <a:t>Earth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7870"/>
                </a:solidFill>
                <a:latin typeface="Courier New"/>
              </a:rPr>
              <a:t>Hexahedron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4F0EB"/>
                </a:solidFill>
                <a:latin typeface="Times New Roman"/>
              </a:rPr>
              <a:t>Builder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657600"/>
            <a:ext cx="1645920" cy="1645920"/>
          </a:xfrm>
          <a:prstGeom prst="rect">
            <a:avLst/>
          </a:prstGeom>
          <a:solidFill>
            <a:srgbClr val="090F21"/>
          </a:solidFill>
          <a:ln w="12700">
            <a:solidFill>
              <a:srgbClr val="3B5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5FC8"/>
                </a:solidFill>
                <a:latin typeface="Georgia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7870"/>
                </a:solidFill>
                <a:latin typeface="Courier New"/>
              </a:rPr>
              <a:t>Octahedron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4F0EB"/>
                </a:solidFill>
                <a:latin typeface="Times New Roman"/>
              </a:rPr>
              <a:t>Orchestrator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3657600"/>
            <a:ext cx="1645920" cy="1645920"/>
          </a:xfrm>
          <a:prstGeom prst="rect">
            <a:avLst/>
          </a:prstGeom>
          <a:solidFill>
            <a:srgbClr val="051C21"/>
          </a:solidFill>
          <a:ln w="12700">
            <a:solidFill>
              <a:srgbClr val="20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0A8C8"/>
                </a:solidFill>
                <a:latin typeface="Georgia"/>
              </a:rPr>
              <a:t>Water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7870"/>
                </a:solidFill>
                <a:latin typeface="Courier New"/>
              </a:rPr>
              <a:t>Icosahedron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4F0EB"/>
                </a:solidFill>
                <a:latin typeface="Times New Roman"/>
              </a:rPr>
              <a:t>Connector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3657600"/>
            <a:ext cx="1645920" cy="1645920"/>
          </a:xfrm>
          <a:prstGeom prst="rect">
            <a:avLst/>
          </a:prstGeom>
          <a:solidFill>
            <a:srgbClr val="191425"/>
          </a:solidFill>
          <a:ln w="12700">
            <a:solidFill>
              <a:srgbClr val="9B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7BE0"/>
                </a:solidFill>
                <a:latin typeface="Georgia"/>
              </a:rPr>
              <a:t>Aether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7870"/>
                </a:solidFill>
                <a:latin typeface="Courier New"/>
              </a:rPr>
              <a:t>Dodecahedron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4F0EB"/>
                </a:solidFill>
                <a:latin typeface="Times New Roman"/>
              </a:rPr>
              <a:t>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SACRED GEOMETRY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F0EB"/>
                </a:solidFill>
                <a:latin typeface="Georgia"/>
              </a:rPr>
              <a:t>Structure is
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A1F"/>
                </a:solidFill>
                <a:latin typeface="Georgia"/>
              </a:rPr>
              <a:t>Flower of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657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7BE0"/>
                </a:solidFill>
                <a:latin typeface="Courier New"/>
              </a:rPr>
              <a:t>19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3657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7870"/>
                </a:solidFill>
                <a:latin typeface="Times New Roman"/>
              </a:rPr>
              <a:t>The source grid — all patterns emerge from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A1F"/>
                </a:solidFill>
                <a:latin typeface="Georgia"/>
              </a:rPr>
              <a:t>Fruit of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7BE0"/>
                </a:solidFill>
                <a:latin typeface="Courier New"/>
              </a:rPr>
              <a:t>13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480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7870"/>
                </a:solidFill>
                <a:latin typeface="Times New Roman"/>
              </a:rPr>
              <a:t>The 13-circle selection (Metatron source)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A1F"/>
                </a:solidFill>
                <a:latin typeface="Georgia"/>
              </a:rPr>
              <a:t>Metatron's Cube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303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7BE0"/>
                </a:solidFill>
                <a:latin typeface="Courier New"/>
              </a:rPr>
              <a:t>78 edges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03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7870"/>
                </a:solidFill>
                <a:latin typeface="Times New Roman"/>
              </a:rPr>
              <a:t>C(13,2) — every possible connection, made explicit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THE PAOAL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4F0EB"/>
                </a:solidFill>
                <a:latin typeface="Georgia"/>
              </a:rPr>
              <a:t>Plan → Act → Observe
→ Assess →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07870"/>
                </a:solidFill>
                <a:latin typeface="Times New Roman"/>
              </a:rPr>
              <a:t>Maps to Torus geometry — a self-reinforcing loop.
Every engagement is a cycle, not a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49A1F"/>
                </a:solidFill>
                <a:latin typeface="Courier New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79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49A1F"/>
                </a:solidFill>
                <a:latin typeface="Courier New"/>
              </a:rPr>
              <a:t>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5FC8"/>
                </a:solidFill>
                <a:latin typeface="Courier New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0A8C8"/>
                </a:solidFill>
                <a:latin typeface="Courier New"/>
              </a:rPr>
              <a:t>Assess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7BE0"/>
                </a:solidFill>
                <a:latin typeface="Courier New"/>
              </a:rPr>
              <a:t>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THE GOLDEN RATIO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49A1F"/>
                </a:solidFill>
                <a:latin typeface="Georgia"/>
              </a:rPr>
              <a:t>φ = 1.618…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0EB"/>
                </a:solidFill>
                <a:latin typeface="Georgia"/>
              </a:rPr>
              <a:t>Each system level is φ× the one below.
Fibonacci team sizing: 2 · 3 · 5 · 8 · 13 ·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7870"/>
                </a:solidFill>
                <a:latin typeface="Times New Roman"/>
              </a:rPr>
              <a:t>PHI governs hierarchy across ContextForge: agent counts, engagement phases,
documentation depth, and review cycles are all calibrated to the golden ratio.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TREE OF LIFE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4F0EB"/>
                </a:solidFill>
                <a:latin typeface="Georgia"/>
              </a:rPr>
              <a:t>The Agent
Coordination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07870"/>
                </a:solidFill>
                <a:latin typeface="Times New Roman"/>
              </a:rPr>
              <a:t>The Kabbalistic Tree of Life — 10 Sephirot, 22 paths — maps
directly to the ContextForge agent coordination topology.
Each node is an agent role. Each path is a communication channel.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B7BE0"/>
                </a:solidFill>
                <a:latin typeface="Courier New"/>
              </a:rPr>
              <a:t>10 nodes · 22 paths · 5 elemental assignments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TEAM ARCHITECTURE · GCMT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4F0EB"/>
                </a:solidFill>
                <a:latin typeface="Georgia"/>
              </a:rPr>
              <a:t>Geometry-backed
Team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9A1F"/>
                </a:solidFill>
                <a:latin typeface="Georgia"/>
              </a:rPr>
              <a:t>Triangle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657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0EB"/>
                </a:solidFill>
                <a:latin typeface="Courier New"/>
              </a:rPr>
              <a:t>Triad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657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7870"/>
                </a:solidFill>
                <a:latin typeface="Times New Roman"/>
              </a:rPr>
              <a:t>Adversarial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9A1F"/>
                </a:solidFill>
                <a:latin typeface="Georgia"/>
              </a:rPr>
              <a:t>Tetrahedron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159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0EB"/>
                </a:solidFill>
                <a:latin typeface="Courier New"/>
              </a:rPr>
              <a:t>Pentad (5)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43159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7870"/>
                </a:solidFill>
                <a:latin typeface="Times New Roman"/>
              </a:rPr>
              <a:t>Foundational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743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5FC8"/>
                </a:solidFill>
                <a:latin typeface="Georgia"/>
              </a:rPr>
              <a:t>Octahedron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9743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0EB"/>
                </a:solidFill>
                <a:latin typeface="Courier New"/>
              </a:rPr>
              <a:t>Octad (8)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97433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7870"/>
                </a:solidFill>
                <a:latin typeface="Times New Roman"/>
              </a:rPr>
              <a:t>Hub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3270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7BE0"/>
                </a:solidFill>
                <a:latin typeface="Georgia"/>
              </a:rPr>
              <a:t>Dodecahedron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6327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0EB"/>
                </a:solidFill>
                <a:latin typeface="Courier New"/>
              </a:rPr>
              <a:t>Tridecad (13)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63270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7870"/>
                </a:solidFill>
                <a:latin typeface="Times New Roman"/>
              </a:rPr>
              <a:t>Enterprise scope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SRI YANTRA · PAOAL PHASE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4F0EB"/>
                </a:solidFill>
                <a:latin typeface="Georgia"/>
              </a:rPr>
              <a:t>9 Triangles.
5 Phases.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7870"/>
                </a:solidFill>
                <a:latin typeface="Courier New"/>
              </a:rPr>
              <a:t>Triangles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7BE0"/>
                </a:solidFill>
                <a:latin typeface="Georgia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793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7870"/>
                </a:solidFill>
                <a:latin typeface="Courier New"/>
              </a:rPr>
              <a:t>Triangles 2–3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2793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FAA"/>
                </a:solidFill>
                <a:latin typeface="Georgia"/>
              </a:rPr>
              <a:t>Assess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97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7870"/>
                </a:solidFill>
                <a:latin typeface="Courier New"/>
              </a:rPr>
              <a:t>Triangles 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8097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0A8C8"/>
                </a:solidFill>
                <a:latin typeface="Georgia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00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7870"/>
                </a:solidFill>
                <a:latin typeface="Courier New"/>
              </a:rPr>
              <a:t>Triangles 6–7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3400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35"/>
                </a:solidFill>
                <a:latin typeface="Georgia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704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7870"/>
                </a:solidFill>
                <a:latin typeface="Courier New"/>
              </a:rPr>
              <a:t>Triangles 8–9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8704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49A1F"/>
                </a:solidFill>
                <a:latin typeface="Georgia"/>
              </a:rPr>
              <a:t>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9A1F"/>
                </a:solidFill>
                <a:latin typeface="Courier New"/>
              </a:rPr>
              <a:t>ENGAGEMENT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0" cy="12700"/>
          </a:xfrm>
          <a:prstGeom prst="rect">
            <a:avLst/>
          </a:prstGeom>
          <a:solidFill>
            <a:srgbClr val="C49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4F0EB"/>
                </a:solidFill>
                <a:latin typeface="Georgia"/>
              </a:rPr>
              <a:t>How We Work
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A1F"/>
                </a:solidFill>
                <a:latin typeface="Georgia"/>
              </a:rPr>
              <a:t>1.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37490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7870"/>
                </a:solidFill>
                <a:latin typeface="Times New Roman"/>
              </a:rPr>
              <a:t>Map your system — agents, flows, constraints,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A1F"/>
                </a:solidFill>
                <a:latin typeface="Georgia"/>
              </a:rPr>
              <a:t>2.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5720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7870"/>
                </a:solidFill>
                <a:latin typeface="Times New Roman"/>
              </a:rPr>
              <a:t>Apply ContextForge — element assignment, PAOAL cadence, team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5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49A1F"/>
                </a:solidFill>
                <a:latin typeface="Georgia"/>
              </a:rPr>
              <a:t>3.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3949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7870"/>
                </a:solidFill>
                <a:latin typeface="Times New Roman"/>
              </a:rPr>
              <a:t>Execute with structured intelligence — measurable, repeatable, auditable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C49A1F"/>
                </a:solidFill>
                <a:latin typeface="Georgia"/>
              </a:rPr>
              <a:t>Start the
Conversation.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4F0EB"/>
                </a:solidFill>
                <a:latin typeface="Courier New"/>
              </a:rPr>
              <a:t>james.hardy1124@gmail.com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7870"/>
                </a:solidFill>
                <a:latin typeface="Times New Roman"/>
              </a:rPr>
              <a:t>Hardy House Consulting · ContextForge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